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219456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5F9"/>
    <a:srgbClr val="E8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560F5-C01F-44FA-A25E-47AD0E78CCBA}" v="87" dt="2026-07-26T20:45:01.0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opencv.com/monocular-slam-in-python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arxiv.org/abs/2007.11898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hyperlink" Target="https://cvg.cit.tum.de/data/datasets/visual-inertial-datas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59FCA10-B2E0-4E49-E74F-43E344B11EE5}"/>
              </a:ext>
            </a:extLst>
          </p:cNvPr>
          <p:cNvSpPr/>
          <p:nvPr/>
        </p:nvSpPr>
        <p:spPr>
          <a:xfrm>
            <a:off x="486864" y="3500030"/>
            <a:ext cx="21048617" cy="3213463"/>
          </a:xfrm>
          <a:prstGeom prst="roundRect">
            <a:avLst/>
          </a:prstGeom>
          <a:gradFill flip="none" rotWithShape="1">
            <a:gsLst>
              <a:gs pos="0">
                <a:schemeClr val="tx2">
                  <a:shade val="30000"/>
                  <a:satMod val="115000"/>
                </a:schemeClr>
              </a:gs>
              <a:gs pos="50000">
                <a:schemeClr val="tx2">
                  <a:shade val="67500"/>
                  <a:satMod val="115000"/>
                </a:schemeClr>
              </a:gs>
              <a:gs pos="100000">
                <a:schemeClr val="tx2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451661" y="3513330"/>
            <a:ext cx="14861846" cy="1831271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Edge-Deployed Visual SLAM</a:t>
            </a:r>
            <a:endParaRPr lang="en-US">
              <a:solidFill>
                <a:srgbClr val="000000"/>
              </a:solidFill>
              <a:latin typeface="Calibri"/>
            </a:endParaRPr>
          </a:p>
          <a:p>
            <a:pPr algn="ctr"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 3D Mapping with an OAK-D </a:t>
            </a:r>
            <a:r>
              <a:rPr lang="en-US" sz="4800" b="1">
                <a:solidFill>
                  <a:srgbClr val="FFFFFF"/>
                </a:solidFill>
                <a:latin typeface="Calibri"/>
              </a:rPr>
              <a:t>Camera</a:t>
            </a:r>
            <a:r>
              <a:rPr sz="4800" b="1" i="0">
                <a:solidFill>
                  <a:srgbClr val="FFFFFF"/>
                </a:solidFill>
                <a:latin typeface="Calibri"/>
              </a:rPr>
              <a:t> on a Raspberry Pi 5</a:t>
            </a:r>
            <a:endParaRPr lang="en-US" sz="4800" b="1" i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3500" y="5324293"/>
            <a:ext cx="19751040" cy="112851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Authors:</a:t>
            </a:r>
            <a:r>
              <a:rPr sz="3200" b="0" i="0">
                <a:solidFill>
                  <a:srgbClr val="FFFFFF"/>
                </a:solidFill>
                <a:latin typeface="Calibri"/>
              </a:rPr>
              <a:t> Saevin </a:t>
            </a:r>
            <a:r>
              <a:rPr lang="en-US" sz="3200" b="0" i="0">
                <a:solidFill>
                  <a:srgbClr val="FFFFFF"/>
                </a:solidFill>
                <a:latin typeface="Calibri"/>
              </a:rPr>
              <a:t>Hong</a:t>
            </a:r>
            <a:r>
              <a:rPr sz="3200" b="0" i="0">
                <a:solidFill>
                  <a:srgbClr val="FFFFFF"/>
                </a:solidFill>
                <a:latin typeface="Calibri"/>
              </a:rPr>
              <a:t>, Aadi </a:t>
            </a:r>
            <a:r>
              <a:rPr lang="en-US" sz="3200" b="0" i="0">
                <a:solidFill>
                  <a:srgbClr val="FFFFFF"/>
                </a:solidFill>
                <a:latin typeface="Calibri"/>
              </a:rPr>
              <a:t>Jain, Kathleen Wang</a:t>
            </a:r>
            <a:r>
              <a:rPr sz="3200" b="0" i="1">
                <a:solidFill>
                  <a:srgbClr val="FFFFFF"/>
                </a:solidFill>
                <a:latin typeface="Calibri"/>
              </a:rPr>
              <a:t> </a:t>
            </a:r>
            <a:endParaRPr lang="en-US" sz="3200">
              <a:solidFill>
                <a:srgbClr val="FFFFFF"/>
              </a:solidFill>
              <a:latin typeface="Calibri"/>
            </a:endParaRPr>
          </a:p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Mentor:</a:t>
            </a:r>
            <a:r>
              <a:rPr lang="en-US" sz="3200" b="1" i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3200" i="0">
                <a:solidFill>
                  <a:srgbClr val="FFFFFF"/>
                </a:solidFill>
                <a:latin typeface="Calibri"/>
              </a:rPr>
              <a:t>Dr. Jack Silberman</a:t>
            </a:r>
            <a:r>
              <a:rPr sz="3200" b="0" i="0">
                <a:solidFill>
                  <a:srgbClr val="FFFFFF"/>
                </a:solidFill>
                <a:latin typeface="Calibri"/>
              </a:rPr>
              <a:t>, </a:t>
            </a:r>
            <a:r>
              <a:rPr lang="en-US" sz="3200" b="0" i="0">
                <a:solidFill>
                  <a:srgbClr val="FFFFFF"/>
                </a:solidFill>
                <a:latin typeface="Calibri"/>
              </a:rPr>
              <a:t>Lecturer, Jacobs School of Engineering, UCSD</a:t>
            </a:r>
            <a:endParaRPr lang="en-US" sz="3200" b="0" i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62408" y="6866231"/>
            <a:ext cx="10173830" cy="422921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F2F5F9"/>
              </a:gs>
            </a:gsLst>
            <a:lin ang="5400000" scaled="1"/>
            <a:tileRect/>
          </a:gradFill>
          <a:ln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352" y="6958129"/>
            <a:ext cx="9144000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182B49"/>
                </a:solidFill>
                <a:latin typeface="Calibri"/>
              </a:rPr>
              <a:t>Abstract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7945" y="7739429"/>
            <a:ext cx="9418319" cy="32932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800"/>
              </a:spcAft>
            </a:pPr>
            <a:r>
              <a:rPr lang="en-US" sz="2600">
                <a:solidFill>
                  <a:srgbClr val="1A1A1A"/>
                </a:solidFill>
                <a:latin typeface="Calibri"/>
              </a:rPr>
              <a:t>Simultaneous Localization and Mapping (SLAM) lets a moving camera build a map of an unknown space while tracking its own position within it. Our team refactored ORB-SLAM3, a foundational state-of-the-art visual SLAM system, on low-cost edge hardware — a </a:t>
            </a:r>
            <a:r>
              <a:rPr lang="en-US" sz="2600" err="1">
                <a:solidFill>
                  <a:srgbClr val="1A1A1A"/>
                </a:solidFill>
                <a:latin typeface="Calibri"/>
              </a:rPr>
              <a:t>Luxonis</a:t>
            </a:r>
            <a:r>
              <a:rPr lang="en-US" sz="2600">
                <a:solidFill>
                  <a:srgbClr val="1A1A1A"/>
                </a:solidFill>
                <a:latin typeface="Calibri"/>
              </a:rPr>
              <a:t> OAK-D stereo-depth camera and a Raspberry Pi 5 — to explore real-time 3D mapping of indoor spaces. After evaluating it on a benchmark dataset (TUM-VI), we recorded several RGB-D footages and used ORB-SLAM3 to recreate the spaces. </a:t>
            </a:r>
            <a:endParaRPr lang="en-US" sz="2600">
              <a:solidFill>
                <a:srgbClr val="1A1A1A"/>
              </a:solidFill>
              <a:ea typeface="Calibri"/>
              <a:cs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7040" y="11296438"/>
            <a:ext cx="10147152" cy="2609179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F2F5F9"/>
              </a:gs>
            </a:gsLst>
            <a:lin ang="5400000" scaled="1"/>
            <a:tileRect/>
          </a:gradFill>
          <a:ln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94211" y="14169007"/>
            <a:ext cx="10091989" cy="563920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F2F5F9"/>
              </a:gs>
            </a:gsLst>
            <a:lin ang="5400000" scaled="1"/>
            <a:tileRect/>
          </a:gradFill>
          <a:ln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2416" y="14870451"/>
            <a:ext cx="9418319" cy="455509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Hardware:  </a:t>
            </a:r>
            <a:r>
              <a:rPr sz="2700" b="0" i="0">
                <a:solidFill>
                  <a:srgbClr val="1A1A1A"/>
                </a:solidFill>
                <a:latin typeface="Calibri"/>
              </a:rPr>
              <a:t>OAK-D (stereo cameras + IMU + on-device depth) on a Raspberry Pi 5.</a:t>
            </a:r>
            <a:endParaRPr lang="en-US" sz="2700" b="0" i="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80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Software:  </a:t>
            </a:r>
            <a:r>
              <a:rPr sz="2700" b="0" i="0">
                <a:solidFill>
                  <a:srgbClr val="1A1A1A"/>
                </a:solidFill>
                <a:latin typeface="Calibri"/>
              </a:rPr>
              <a:t>ORB-SLAM3 </a:t>
            </a:r>
            <a:r>
              <a:rPr lang="en-US" sz="2700">
                <a:solidFill>
                  <a:srgbClr val="1A1A1A"/>
                </a:solidFill>
                <a:latin typeface="Calibri"/>
              </a:rPr>
              <a:t>and its related dependencies for collecting data and generating sparse maps</a:t>
            </a:r>
            <a:r>
              <a:rPr sz="2700" b="0" i="0">
                <a:solidFill>
                  <a:srgbClr val="1A1A1A"/>
                </a:solidFill>
                <a:latin typeface="Calibri"/>
              </a:rPr>
              <a:t>.</a:t>
            </a:r>
            <a:r>
              <a:rPr lang="en-US" sz="2700">
                <a:solidFill>
                  <a:srgbClr val="1A1A1A"/>
                </a:solidFill>
                <a:latin typeface="Calibri"/>
              </a:rPr>
              <a:t> Used Docker to emulate the Pi's environment and ran datasets through it  to test the SLAM system</a:t>
            </a:r>
            <a:endParaRPr lang="en-US" sz="2700" b="0" i="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Calibration:  </a:t>
            </a:r>
            <a:r>
              <a:rPr sz="2700" b="0" i="0">
                <a:solidFill>
                  <a:srgbClr val="1A1A1A"/>
                </a:solidFill>
                <a:latin typeface="Calibri"/>
              </a:rPr>
              <a:t>per-unit factory intrinsics/</a:t>
            </a:r>
            <a:r>
              <a:rPr sz="2700" b="0" i="0" err="1">
                <a:solidFill>
                  <a:srgbClr val="1A1A1A"/>
                </a:solidFill>
                <a:latin typeface="Calibri"/>
              </a:rPr>
              <a:t>extrinsics</a:t>
            </a:r>
            <a:r>
              <a:rPr sz="2700" b="0" i="0">
                <a:solidFill>
                  <a:srgbClr val="1A1A1A"/>
                </a:solidFill>
                <a:latin typeface="Calibri"/>
              </a:rPr>
              <a:t> and IMU noise parameters.</a:t>
            </a:r>
            <a:endParaRPr sz="2700" b="0" i="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800"/>
              </a:spcAft>
            </a:pPr>
            <a:r>
              <a:rPr lang="en-US" sz="27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Detection:  </a:t>
            </a:r>
            <a:r>
              <a:rPr lang="en-US" sz="27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The YOLO26 model recognizes current household objects and remove dynamic objects from being integrated into the sparse map(e.g. people, suitcases, etc.)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122036" y="6857356"/>
            <a:ext cx="10361155" cy="620452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F2F5F9"/>
              </a:gs>
            </a:gsLst>
            <a:lin ang="5400000" scaled="1"/>
            <a:tileRect/>
          </a:gradFill>
          <a:ln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1104455" y="13367407"/>
            <a:ext cx="10378735" cy="1567592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F2F5F9"/>
              </a:gs>
            </a:gsLst>
            <a:lin ang="5400000" scaled="1"/>
            <a:tileRect/>
          </a:gradFill>
          <a:ln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425516" y="21181835"/>
            <a:ext cx="6875417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1">
                <a:solidFill>
                  <a:srgbClr val="555B66"/>
                </a:solidFill>
                <a:latin typeface="Calibri"/>
              </a:rPr>
              <a:t>Dense</a:t>
            </a:r>
            <a:r>
              <a:rPr lang="en-US" sz="1300" i="1">
                <a:solidFill>
                  <a:srgbClr val="555B66"/>
                </a:solidFill>
                <a:latin typeface="Calibri"/>
              </a:rPr>
              <a:t> reconstruction</a:t>
            </a:r>
            <a:r>
              <a:rPr sz="1300" b="0" i="1">
                <a:solidFill>
                  <a:srgbClr val="555B66"/>
                </a:solidFill>
                <a:latin typeface="Calibri"/>
              </a:rPr>
              <a:t> from </a:t>
            </a:r>
            <a:r>
              <a:rPr lang="en-US" sz="1300" i="1">
                <a:solidFill>
                  <a:srgbClr val="555B66"/>
                </a:solidFill>
                <a:latin typeface="Calibri"/>
              </a:rPr>
              <a:t>RGB-D SLAM. Dataset: TUM-VI, freiburg1_room</a:t>
            </a:r>
            <a:endParaRPr sz="1300" b="0" i="1">
              <a:solidFill>
                <a:srgbClr val="555B66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6556349" y="21165985"/>
            <a:ext cx="4228011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300" i="1">
                <a:solidFill>
                  <a:srgbClr val="555B66"/>
                </a:solidFill>
                <a:latin typeface="Calibri"/>
              </a:rPr>
              <a:t>Our data: dense reconstruction from OAK-D recording rgbd2</a:t>
            </a:r>
            <a:endParaRPr lang="en-US"/>
          </a:p>
        </p:txBody>
      </p:sp>
      <p:sp>
        <p:nvSpPr>
          <p:cNvPr id="45" name="Rounded Rectangle 44"/>
          <p:cNvSpPr/>
          <p:nvPr/>
        </p:nvSpPr>
        <p:spPr>
          <a:xfrm>
            <a:off x="494212" y="23861186"/>
            <a:ext cx="10098162" cy="518214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F2F5F9"/>
              </a:gs>
            </a:gsLst>
            <a:lin ang="5400000" scaled="1"/>
            <a:tileRect/>
          </a:gradFill>
          <a:ln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1311" y="24730330"/>
            <a:ext cx="9498507" cy="41395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spcAft>
                <a:spcPts val="800"/>
              </a:spcAft>
              <a:buFont typeface="Arial"/>
              <a:buChar char="•"/>
            </a:pPr>
            <a:r>
              <a:rPr lang="en-US" sz="27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Optimizations</a:t>
            </a:r>
            <a:r>
              <a:rPr lang="en-US" sz="27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that SLAM can make to </a:t>
            </a:r>
            <a:r>
              <a:rPr lang="en-US" sz="27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run more smoothly </a:t>
            </a:r>
            <a:r>
              <a:rPr lang="en-US" sz="27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and prevent any backlog of tasks the  CPU can't complete in time without compromising the map significantly.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spcAft>
                <a:spcPts val="800"/>
              </a:spcAft>
              <a:buFont typeface="Arial"/>
              <a:buChar char="•"/>
            </a:pPr>
            <a:r>
              <a:rPr lang="en-US" sz="27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Better  distinction </a:t>
            </a:r>
            <a:r>
              <a:rPr lang="en-US" sz="27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between dynamic objects, moving figures, and features of the room itself. 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spcAft>
                <a:spcPts val="800"/>
              </a:spcAft>
              <a:buFont typeface="Arial"/>
              <a:buChar char="•"/>
            </a:pPr>
            <a:r>
              <a:rPr lang="en-US" sz="27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Colored dense reconstruction </a:t>
            </a:r>
            <a:r>
              <a:rPr lang="en-US" sz="27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on OAK-D (align RGB stream to depth) + true volumetric fusion (TSDF) instead of point stacking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spcAft>
                <a:spcPts val="800"/>
              </a:spcAft>
              <a:buFont typeface="Arial"/>
              <a:buChar char="•"/>
            </a:pPr>
            <a:r>
              <a:rPr lang="en-US" sz="27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Loop closure and map merging</a:t>
            </a:r>
            <a:r>
              <a:rPr lang="en-US" sz="27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to remove fragmentation (e.g. rgbd1's 2 sub-maps)</a:t>
            </a:r>
            <a:endParaRPr lang="en-US" sz="2700">
              <a:solidFill>
                <a:srgbClr val="1A1A1A"/>
              </a:solidFill>
              <a:ea typeface="Calibri"/>
              <a:cs typeface="Calibri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61EACA6-3980-0D0C-E914-81F3520C0276}"/>
              </a:ext>
            </a:extLst>
          </p:cNvPr>
          <p:cNvGrpSpPr/>
          <p:nvPr/>
        </p:nvGrpSpPr>
        <p:grpSpPr>
          <a:xfrm>
            <a:off x="1200592" y="662589"/>
            <a:ext cx="4767452" cy="2235201"/>
            <a:chOff x="16958310" y="4968240"/>
            <a:chExt cx="2171700" cy="1000125"/>
          </a:xfrm>
        </p:grpSpPr>
        <p:pic>
          <p:nvPicPr>
            <p:cNvPr id="56" name="Picture 55" descr="San Diego&#10;&#10;AI-generated content may be incorrect.">
              <a:extLst>
                <a:ext uri="{FF2B5EF4-FFF2-40B4-BE49-F238E27FC236}">
                  <a16:creationId xmlns:a16="http://schemas.microsoft.com/office/drawing/2014/main" id="{727DA4C1-0843-9FBA-2E55-D075E08FA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58310" y="4968240"/>
              <a:ext cx="2171700" cy="609600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897F5D5B-3FE4-FED5-3102-1E64FB186F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958310" y="5577840"/>
              <a:ext cx="2171700" cy="390525"/>
            </a:xfrm>
            <a:prstGeom prst="rect">
              <a:avLst/>
            </a:prstGeom>
          </p:spPr>
        </p:pic>
      </p:grpSp>
      <p:sp>
        <p:nvSpPr>
          <p:cNvPr id="55" name="TextBox 15">
            <a:extLst>
              <a:ext uri="{FF2B5EF4-FFF2-40B4-BE49-F238E27FC236}">
                <a16:creationId xmlns:a16="http://schemas.microsoft.com/office/drawing/2014/main" id="{9212EF77-9D57-42CC-323E-E3ABF71A9FFD}"/>
              </a:ext>
            </a:extLst>
          </p:cNvPr>
          <p:cNvSpPr txBox="1"/>
          <p:nvPr/>
        </p:nvSpPr>
        <p:spPr>
          <a:xfrm>
            <a:off x="7227044" y="641643"/>
            <a:ext cx="13517964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800">
                <a:solidFill>
                  <a:schemeClr val="accent3">
                    <a:lumMod val="50000"/>
                  </a:schemeClr>
                </a:solidFill>
                <a:latin typeface="Merriweather" panose="00000500000000000000" pitchFamily="2" charset="0"/>
              </a:rPr>
              <a:t>3-Dimensional/Space Analyses and Applications with Edge AI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1CFDA44-4A48-2BD3-6A90-928AFDCC1077}"/>
              </a:ext>
            </a:extLst>
          </p:cNvPr>
          <p:cNvCxnSpPr/>
          <p:nvPr/>
        </p:nvCxnSpPr>
        <p:spPr>
          <a:xfrm>
            <a:off x="0" y="3285097"/>
            <a:ext cx="2194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5805680-6097-C0DA-9EEA-6EA042B3AD78}"/>
              </a:ext>
            </a:extLst>
          </p:cNvPr>
          <p:cNvSpPr txBox="1"/>
          <p:nvPr/>
        </p:nvSpPr>
        <p:spPr>
          <a:xfrm>
            <a:off x="889958" y="11345207"/>
            <a:ext cx="9144000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000" b="1">
                <a:solidFill>
                  <a:srgbClr val="182B49"/>
                </a:solidFill>
                <a:ea typeface="Calibri"/>
                <a:cs typeface="Calibri"/>
              </a:rPr>
              <a:t>Final Project Proposal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4531B5-C3CD-116A-A9C4-1228F8883456}"/>
              </a:ext>
            </a:extLst>
          </p:cNvPr>
          <p:cNvSpPr txBox="1"/>
          <p:nvPr/>
        </p:nvSpPr>
        <p:spPr>
          <a:xfrm>
            <a:off x="11688587" y="6953689"/>
            <a:ext cx="9144000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000" b="1">
                <a:solidFill>
                  <a:srgbClr val="182B49"/>
                </a:solidFill>
                <a:latin typeface="Calibri"/>
              </a:rPr>
              <a:t>Project Evolution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6680EC-549B-EA2B-08DD-5104EFF784C0}"/>
              </a:ext>
            </a:extLst>
          </p:cNvPr>
          <p:cNvSpPr txBox="1"/>
          <p:nvPr/>
        </p:nvSpPr>
        <p:spPr>
          <a:xfrm>
            <a:off x="892587" y="14304043"/>
            <a:ext cx="9144000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000" b="1">
                <a:solidFill>
                  <a:srgbClr val="182B49"/>
                </a:solidFill>
                <a:ea typeface="Calibri"/>
                <a:cs typeface="Calibri"/>
              </a:rPr>
              <a:t>Methodology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65D14F-C083-7602-80B7-236BCB949ABE}"/>
              </a:ext>
            </a:extLst>
          </p:cNvPr>
          <p:cNvSpPr txBox="1"/>
          <p:nvPr/>
        </p:nvSpPr>
        <p:spPr>
          <a:xfrm>
            <a:off x="11601008" y="13456654"/>
            <a:ext cx="9144000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000" b="1">
                <a:solidFill>
                  <a:srgbClr val="182B49"/>
                </a:solidFill>
                <a:latin typeface="Calibri"/>
              </a:rPr>
              <a:t>Results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3C4B6E-D34A-790F-05F1-C9A98BCE8A7F}"/>
              </a:ext>
            </a:extLst>
          </p:cNvPr>
          <p:cNvSpPr txBox="1"/>
          <p:nvPr/>
        </p:nvSpPr>
        <p:spPr>
          <a:xfrm>
            <a:off x="889958" y="24051231"/>
            <a:ext cx="9144000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000" b="1">
                <a:solidFill>
                  <a:srgbClr val="182B49"/>
                </a:solidFill>
                <a:ea typeface="Calibri"/>
                <a:cs typeface="Calibri"/>
              </a:rPr>
              <a:t>Future Works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EC5DA87-011B-E6E2-5E33-C3D5A7B455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381247"/>
              </p:ext>
            </p:extLst>
          </p:nvPr>
        </p:nvGraphicFramePr>
        <p:xfrm>
          <a:off x="11507637" y="14664905"/>
          <a:ext cx="9457299" cy="285376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27033">
                  <a:extLst>
                    <a:ext uri="{9D8B030D-6E8A-4147-A177-3AD203B41FA5}">
                      <a16:colId xmlns:a16="http://schemas.microsoft.com/office/drawing/2014/main" val="3476551917"/>
                    </a:ext>
                  </a:extLst>
                </a:gridCol>
                <a:gridCol w="1266086">
                  <a:extLst>
                    <a:ext uri="{9D8B030D-6E8A-4147-A177-3AD203B41FA5}">
                      <a16:colId xmlns:a16="http://schemas.microsoft.com/office/drawing/2014/main" val="1474435320"/>
                    </a:ext>
                  </a:extLst>
                </a:gridCol>
                <a:gridCol w="860941">
                  <a:extLst>
                    <a:ext uri="{9D8B030D-6E8A-4147-A177-3AD203B41FA5}">
                      <a16:colId xmlns:a16="http://schemas.microsoft.com/office/drawing/2014/main" val="122398163"/>
                    </a:ext>
                  </a:extLst>
                </a:gridCol>
                <a:gridCol w="1468665">
                  <a:extLst>
                    <a:ext uri="{9D8B030D-6E8A-4147-A177-3AD203B41FA5}">
                      <a16:colId xmlns:a16="http://schemas.microsoft.com/office/drawing/2014/main" val="3346005709"/>
                    </a:ext>
                  </a:extLst>
                </a:gridCol>
                <a:gridCol w="1215448">
                  <a:extLst>
                    <a:ext uri="{9D8B030D-6E8A-4147-A177-3AD203B41FA5}">
                      <a16:colId xmlns:a16="http://schemas.microsoft.com/office/drawing/2014/main" val="2919409831"/>
                    </a:ext>
                  </a:extLst>
                </a:gridCol>
                <a:gridCol w="2519126">
                  <a:extLst>
                    <a:ext uri="{9D8B030D-6E8A-4147-A177-3AD203B41FA5}">
                      <a16:colId xmlns:a16="http://schemas.microsoft.com/office/drawing/2014/main" val="1630631989"/>
                    </a:ext>
                  </a:extLst>
                </a:gridCol>
              </a:tblGrid>
              <a:tr h="679469">
                <a:tc>
                  <a:txBody>
                    <a:bodyPr/>
                    <a:lstStyle/>
                    <a:p>
                      <a:pPr marL="0" lvl="0" algn="ctr" rtl="0">
                        <a:buNone/>
                      </a:pPr>
                      <a:r>
                        <a:rPr lang="en-US" sz="2400" b="1" kern="120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Sequence</a:t>
                      </a:r>
                      <a:endParaRPr lang="en-US" sz="240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>
                        <a:buNone/>
                      </a:pPr>
                      <a:r>
                        <a:rPr lang="en-US" sz="2400" b="1" kern="120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Frames</a:t>
                      </a:r>
                      <a:endParaRPr lang="en-US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2400" b="1" kern="120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KFs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2400" b="1" kern="120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Sub-Maps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2400" b="1" kern="120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Map pts</a:t>
                      </a:r>
                      <a:endParaRPr lang="en-US" sz="240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>
                        <a:buNone/>
                      </a:pPr>
                      <a:r>
                        <a:rPr lang="en-US" sz="2400" b="1" kern="120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Tracking recoveries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806449"/>
                  </a:ext>
                </a:extLst>
              </a:tr>
              <a:tr h="543573">
                <a:tc>
                  <a:txBody>
                    <a:bodyPr/>
                    <a:lstStyle/>
                    <a:p>
                      <a:pPr marL="0" lvl="0" algn="ctr" rtl="0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TUM freiburg1</a:t>
                      </a:r>
                      <a:endParaRPr lang="en-US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rtl="0" eaLnBrk="1" latinLnBrk="0" hangingPunct="1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1362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319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17.6k</a:t>
                      </a:r>
                      <a:endParaRPr lang="en-US" sz="240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788528"/>
                  </a:ext>
                </a:extLst>
              </a:tr>
              <a:tr h="543573">
                <a:tc>
                  <a:txBody>
                    <a:bodyPr/>
                    <a:lstStyle/>
                    <a:p>
                      <a:pPr marL="0" lvl="0" algn="ctr" rtl="0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OAK-D  rgbd1</a:t>
                      </a:r>
                      <a:endParaRPr lang="en-US" sz="240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rtl="0" eaLnBrk="1" latinLnBrk="0" hangingPunct="1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2269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289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2</a:t>
                      </a:r>
                      <a:endParaRPr lang="en-US" sz="240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24.9k</a:t>
                      </a:r>
                      <a:endParaRPr lang="en-US" sz="240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1 reset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57217"/>
                  </a:ext>
                </a:extLst>
              </a:tr>
              <a:tr h="543573">
                <a:tc>
                  <a:txBody>
                    <a:bodyPr/>
                    <a:lstStyle/>
                    <a:p>
                      <a:pPr marL="0" lvl="0" algn="ctr" rtl="0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OAK-D  rgbd2</a:t>
                      </a:r>
                      <a:endParaRPr lang="en-US" sz="240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rtl="0" eaLnBrk="1" latinLnBrk="0" hangingPunct="1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4311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606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28.3k</a:t>
                      </a:r>
                      <a:endParaRPr lang="en-US" sz="240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13 (no reset)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597959"/>
                  </a:ext>
                </a:extLst>
              </a:tr>
              <a:tr h="543573">
                <a:tc>
                  <a:txBody>
                    <a:bodyPr/>
                    <a:lstStyle/>
                    <a:p>
                      <a:pPr marL="0" lvl="0" algn="ctr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OAK-D rgbd3</a:t>
                      </a:r>
                      <a:endParaRPr lang="en-US"/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4745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276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16.8k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24052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3B03EA6-4CCC-CE15-3546-A78ED3B470B6}"/>
              </a:ext>
            </a:extLst>
          </p:cNvPr>
          <p:cNvSpPr txBox="1"/>
          <p:nvPr/>
        </p:nvSpPr>
        <p:spPr>
          <a:xfrm>
            <a:off x="891499" y="12044425"/>
            <a:ext cx="9418319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800"/>
              </a:spcAft>
            </a:pPr>
            <a:r>
              <a:rPr lang="en-US" sz="2700">
                <a:solidFill>
                  <a:srgbClr val="1A1A1A"/>
                </a:solidFill>
                <a:ea typeface="+mn-lt"/>
                <a:cs typeface="+mn-lt"/>
              </a:rPr>
              <a:t>Creating an accurate, real-time spatial understanding is essential for autonomous systems to safely navigate and interact with their environment. By using our approach, we can increase access to SLAM by keeping it low-cost while delivering high-quality results. 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3D7417-38BA-E22F-9817-ABD26FA28900}"/>
              </a:ext>
            </a:extLst>
          </p:cNvPr>
          <p:cNvSpPr txBox="1"/>
          <p:nvPr/>
        </p:nvSpPr>
        <p:spPr>
          <a:xfrm>
            <a:off x="11356670" y="7476548"/>
            <a:ext cx="9172426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3200" b="1">
                <a:solidFill>
                  <a:srgbClr val="182B49"/>
                </a:solidFill>
                <a:ea typeface="Calibri"/>
                <a:cs typeface="Calibri"/>
              </a:rPr>
              <a:t>SLAM System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3117BA-2322-9314-69F9-DC1C390E4F89}"/>
              </a:ext>
            </a:extLst>
          </p:cNvPr>
          <p:cNvSpPr txBox="1"/>
          <p:nvPr/>
        </p:nvSpPr>
        <p:spPr>
          <a:xfrm>
            <a:off x="11345121" y="7869407"/>
            <a:ext cx="9535959" cy="22211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800"/>
              </a:spcAft>
            </a:pPr>
            <a:r>
              <a:rPr lang="en-US" sz="2500">
                <a:latin typeface="Arial"/>
                <a:cs typeface="Arial"/>
              </a:rPr>
              <a:t>Generating a sparse cloud map of room being scanned</a:t>
            </a:r>
            <a:endParaRPr lang="en-US" sz="2500">
              <a:latin typeface="Arial"/>
              <a:ea typeface="Calibri"/>
              <a:cs typeface="Arial"/>
            </a:endParaRP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lang="en-US" sz="2500">
                <a:latin typeface="Arial"/>
                <a:cs typeface="Arial"/>
              </a:rPr>
              <a:t>Initially used IMU-Stereo for better resistance to drift, shifted focus to RGBD for ease of use and recording</a:t>
            </a:r>
            <a:endParaRPr lang="en-US"/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lang="en-US" sz="2500">
                <a:latin typeface="Arial"/>
                <a:cs typeface="Arial"/>
              </a:rPr>
              <a:t>CPU-intensive for live SLAM operation; compromised the system to reduce the CPU usage, but decreased map quality</a:t>
            </a:r>
            <a:endParaRPr lang="en-US" sz="2500">
              <a:latin typeface="Arial"/>
              <a:ea typeface="Calibri"/>
              <a:cs typeface="Arial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69D42D6-D528-0CAA-B1B0-82F875EA2A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456" t="23418" r="6924" b="13517"/>
          <a:stretch>
            <a:fillRect/>
          </a:stretch>
        </p:blipFill>
        <p:spPr>
          <a:xfrm>
            <a:off x="16408800" y="17685194"/>
            <a:ext cx="4466391" cy="33905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EDD169-93E7-50FF-B30D-C4AF8568149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663" t="11895" r="6749" b="5973"/>
          <a:stretch>
            <a:fillRect/>
          </a:stretch>
        </p:blipFill>
        <p:spPr>
          <a:xfrm>
            <a:off x="11472583" y="17694806"/>
            <a:ext cx="4793199" cy="3378480"/>
          </a:xfrm>
          <a:prstGeom prst="rect">
            <a:avLst/>
          </a:prstGeom>
        </p:spPr>
      </p:pic>
      <p:sp>
        <p:nvSpPr>
          <p:cNvPr id="29" name="Rounded Rectangle 44">
            <a:extLst>
              <a:ext uri="{FF2B5EF4-FFF2-40B4-BE49-F238E27FC236}">
                <a16:creationId xmlns:a16="http://schemas.microsoft.com/office/drawing/2014/main" id="{BA7ADE98-2A51-8ACF-377A-186012C825D4}"/>
              </a:ext>
            </a:extLst>
          </p:cNvPr>
          <p:cNvSpPr/>
          <p:nvPr/>
        </p:nvSpPr>
        <p:spPr>
          <a:xfrm>
            <a:off x="494212" y="19989450"/>
            <a:ext cx="10098162" cy="371565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F2F5F9"/>
              </a:gs>
            </a:gsLst>
            <a:lin ang="5400000" scaled="1"/>
            <a:tileRect/>
          </a:gradFill>
          <a:ln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25D845-DF28-4930-6BA2-A258959DC073}"/>
              </a:ext>
            </a:extLst>
          </p:cNvPr>
          <p:cNvSpPr txBox="1"/>
          <p:nvPr/>
        </p:nvSpPr>
        <p:spPr>
          <a:xfrm>
            <a:off x="791042" y="20764063"/>
            <a:ext cx="9446746" cy="25853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800"/>
              </a:spcAft>
            </a:pPr>
            <a:r>
              <a:rPr sz="2700" b="0" i="0">
                <a:solidFill>
                  <a:srgbClr val="1A1A1A"/>
                </a:solidFill>
                <a:latin typeface="Calibri"/>
              </a:rPr>
              <a:t>Edge SLAM is feasible — ORB-SLAM3 runs on Raspberry-Pi-class hardware. Stereo-inertial is powerful </a:t>
            </a:r>
            <a:r>
              <a:rPr lang="en-US" sz="2700">
                <a:solidFill>
                  <a:srgbClr val="1A1A1A"/>
                </a:solidFill>
                <a:latin typeface="Calibri"/>
              </a:rPr>
              <a:t>and reduces errors but is</a:t>
            </a:r>
            <a:r>
              <a:rPr sz="2700" b="0" i="0">
                <a:solidFill>
                  <a:srgbClr val="1A1A1A"/>
                </a:solidFill>
                <a:latin typeface="Calibri"/>
              </a:rPr>
              <a:t> fragile to initialization motion</a:t>
            </a:r>
            <a:r>
              <a:rPr lang="en-US" sz="2700">
                <a:solidFill>
                  <a:srgbClr val="1A1A1A"/>
                </a:solidFill>
                <a:latin typeface="Calibri"/>
              </a:rPr>
              <a:t> and various other recording constraints</a:t>
            </a:r>
            <a:r>
              <a:rPr sz="2700" b="0" i="0">
                <a:solidFill>
                  <a:srgbClr val="1A1A1A"/>
                </a:solidFill>
                <a:latin typeface="Calibri"/>
              </a:rPr>
              <a:t>; RGB-D is more robust for dense mapping</a:t>
            </a:r>
            <a:r>
              <a:rPr lang="en-US" sz="2700">
                <a:solidFill>
                  <a:srgbClr val="1A1A1A"/>
                </a:solidFill>
                <a:latin typeface="Calibri"/>
              </a:rPr>
              <a:t> but loses the ability to map out larger buildings.</a:t>
            </a:r>
            <a:r>
              <a:rPr sz="2700" b="0" i="0">
                <a:solidFill>
                  <a:srgbClr val="1A1A1A"/>
                </a:solidFill>
                <a:latin typeface="Calibri"/>
              </a:rPr>
              <a:t> Recording and motion quality matter as much as the algorithm</a:t>
            </a:r>
            <a:r>
              <a:rPr lang="en-US" sz="2700">
                <a:solidFill>
                  <a:srgbClr val="1A1A1A"/>
                </a:solidFill>
                <a:latin typeface="Calibri"/>
              </a:rPr>
              <a:t> for certain specific processes.</a:t>
            </a:r>
            <a:endParaRPr lang="en-US" sz="2700" b="0" i="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6F4FF0-167C-6AED-1145-D37921496EB0}"/>
              </a:ext>
            </a:extLst>
          </p:cNvPr>
          <p:cNvSpPr txBox="1"/>
          <p:nvPr/>
        </p:nvSpPr>
        <p:spPr>
          <a:xfrm>
            <a:off x="937773" y="20063993"/>
            <a:ext cx="9144000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000" b="1">
                <a:solidFill>
                  <a:srgbClr val="182B49"/>
                </a:solidFill>
                <a:ea typeface="Calibri"/>
                <a:cs typeface="Calibri"/>
              </a:rPr>
              <a:t>Conclusion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2CC3887-EC10-78BC-92C5-EFCAC29F34E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9" t="153" r="13015" b="-1324"/>
          <a:stretch>
            <a:fillRect/>
          </a:stretch>
        </p:blipFill>
        <p:spPr>
          <a:xfrm>
            <a:off x="11438106" y="21591235"/>
            <a:ext cx="4209783" cy="3888242"/>
          </a:xfrm>
          <a:prstGeom prst="rect">
            <a:avLst/>
          </a:prstGeom>
        </p:spPr>
      </p:pic>
      <p:sp>
        <p:nvSpPr>
          <p:cNvPr id="42" name="Rounded Rectangle 44">
            <a:extLst>
              <a:ext uri="{FF2B5EF4-FFF2-40B4-BE49-F238E27FC236}">
                <a16:creationId xmlns:a16="http://schemas.microsoft.com/office/drawing/2014/main" id="{E3FE1C9F-4E73-2D78-B9CD-3BE6F962FFAE}"/>
              </a:ext>
            </a:extLst>
          </p:cNvPr>
          <p:cNvSpPr/>
          <p:nvPr/>
        </p:nvSpPr>
        <p:spPr>
          <a:xfrm>
            <a:off x="11122036" y="29305980"/>
            <a:ext cx="10346524" cy="3284329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F2F5F9"/>
              </a:gs>
            </a:gsLst>
            <a:lin ang="5400000" scaled="1"/>
            <a:tileRect/>
          </a:gradFill>
          <a:ln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2D7100F-E6A9-5F85-3F84-45F78AB7BF07}"/>
              </a:ext>
            </a:extLst>
          </p:cNvPr>
          <p:cNvSpPr txBox="1"/>
          <p:nvPr/>
        </p:nvSpPr>
        <p:spPr>
          <a:xfrm>
            <a:off x="11686615" y="29485024"/>
            <a:ext cx="9144000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000" b="1">
                <a:solidFill>
                  <a:srgbClr val="182B49"/>
                </a:solidFill>
                <a:ea typeface="Calibri"/>
                <a:cs typeface="Calibri"/>
              </a:rPr>
              <a:t>References</a:t>
            </a:r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07612D-EFC0-122D-1443-264CA4386A09}"/>
              </a:ext>
            </a:extLst>
          </p:cNvPr>
          <p:cNvSpPr txBox="1"/>
          <p:nvPr/>
        </p:nvSpPr>
        <p:spPr>
          <a:xfrm>
            <a:off x="11643072" y="30080592"/>
            <a:ext cx="9446746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/>
            <a:r>
              <a:rPr lang="en-US" sz="1600">
                <a:solidFill>
                  <a:srgbClr val="1A1A1A"/>
                </a:solidFill>
                <a:latin typeface="Times New Roman"/>
                <a:ea typeface="+mn-lt"/>
                <a:cs typeface="Times New Roman"/>
              </a:rPr>
              <a:t>Campos, C., Elvira, R., Gómez Rodríguez, J. J., Montiel, J. M. M., &amp; </a:t>
            </a:r>
            <a:r>
              <a:rPr lang="en-US" sz="1600" err="1">
                <a:solidFill>
                  <a:srgbClr val="1A1A1A"/>
                </a:solidFill>
                <a:latin typeface="Times New Roman"/>
                <a:ea typeface="+mn-lt"/>
                <a:cs typeface="Times New Roman"/>
              </a:rPr>
              <a:t>Tardós</a:t>
            </a:r>
            <a:r>
              <a:rPr lang="en-US" sz="1600">
                <a:solidFill>
                  <a:srgbClr val="1A1A1A"/>
                </a:solidFill>
                <a:latin typeface="Times New Roman"/>
                <a:ea typeface="+mn-lt"/>
                <a:cs typeface="Times New Roman"/>
              </a:rPr>
              <a:t>, J. D. (n.d.). </a:t>
            </a:r>
            <a:r>
              <a:rPr lang="en-US" sz="1600" i="1">
                <a:solidFill>
                  <a:srgbClr val="1A1A1A"/>
                </a:solidFill>
                <a:latin typeface="Times New Roman"/>
                <a:ea typeface="+mn-lt"/>
                <a:cs typeface="Times New Roman"/>
              </a:rPr>
              <a:t>[2007.11898] orb-slam3: An accurate open-source library for visual, visual-inertial and multi-map slam</a:t>
            </a:r>
            <a:r>
              <a:rPr lang="en-US" sz="1600">
                <a:solidFill>
                  <a:srgbClr val="1A1A1A"/>
                </a:solidFill>
                <a:latin typeface="Times New Roman"/>
                <a:ea typeface="+mn-lt"/>
                <a:cs typeface="Times New Roman"/>
              </a:rPr>
              <a:t>. ORB-SLAM3: An Accurate Open-Source Library for Visual, Visual-Inertial and Multi-Map SLAM. </a:t>
            </a:r>
            <a:r>
              <a:rPr lang="en-US" sz="1600">
                <a:solidFill>
                  <a:srgbClr val="1A1A1A"/>
                </a:solidFill>
                <a:latin typeface="Times New Roman"/>
                <a:ea typeface="+mn-lt"/>
                <a:cs typeface="Times New Roman"/>
                <a:hlinkClick r:id="rId7"/>
              </a:rPr>
              <a:t>https://arxiv.org/abs/2007.11898</a:t>
            </a:r>
            <a:r>
              <a:rPr lang="en-US" sz="1600">
                <a:solidFill>
                  <a:srgbClr val="1A1A1A"/>
                </a:solidFill>
                <a:latin typeface="Times New Roman"/>
                <a:ea typeface="+mn-lt"/>
                <a:cs typeface="Times New Roman"/>
              </a:rPr>
              <a:t> 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pPr marL="457200" indent="-457200"/>
            <a:r>
              <a:rPr lang="en-US" sz="1600">
                <a:solidFill>
                  <a:srgbClr val="1A1A1A"/>
                </a:solidFill>
                <a:latin typeface="Times New Roman"/>
                <a:ea typeface="+mn-lt"/>
                <a:cs typeface="Times New Roman"/>
              </a:rPr>
              <a:t>Maity, S. (n.d.). Understanding Visual SLAM for Robotics Perception: Building Monocular SLAM from Scratch in Python OpenCV. </a:t>
            </a:r>
            <a:r>
              <a:rPr lang="en-US" sz="1600">
                <a:solidFill>
                  <a:srgbClr val="1A1A1A"/>
                </a:solidFill>
                <a:latin typeface="Times New Roman"/>
                <a:ea typeface="+mn-lt"/>
                <a:cs typeface="Times New Roman"/>
                <a:hlinkClick r:id="rId8"/>
              </a:rPr>
              <a:t>https://learnopencv.com/monocular-slam-in-python/</a:t>
            </a:r>
            <a:r>
              <a:rPr lang="en-US" sz="1600">
                <a:solidFill>
                  <a:srgbClr val="1A1A1A"/>
                </a:solidFill>
                <a:latin typeface="Times New Roman"/>
                <a:ea typeface="+mn-lt"/>
                <a:cs typeface="Times New Roman"/>
              </a:rPr>
              <a:t> 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pPr marL="457200" indent="-457200"/>
            <a:r>
              <a:rPr lang="en-US" sz="1600">
                <a:solidFill>
                  <a:srgbClr val="1A1A1A"/>
                </a:solidFill>
                <a:latin typeface="Times New Roman"/>
                <a:ea typeface="+mn-lt"/>
                <a:cs typeface="Times New Roman"/>
              </a:rPr>
              <a:t>Schubert, D., Demmel, N., &amp; Usenko, V. (n.d.). </a:t>
            </a:r>
            <a:r>
              <a:rPr lang="en-US" sz="1600" i="1">
                <a:solidFill>
                  <a:srgbClr val="1A1A1A"/>
                </a:solidFill>
                <a:latin typeface="Times New Roman"/>
                <a:ea typeface="+mn-lt"/>
                <a:cs typeface="Times New Roman"/>
              </a:rPr>
              <a:t>Computer Vision Group - datasets - visual-inertial dataset</a:t>
            </a:r>
            <a:r>
              <a:rPr lang="en-US" sz="1600">
                <a:solidFill>
                  <a:srgbClr val="1A1A1A"/>
                </a:solidFill>
                <a:latin typeface="Times New Roman"/>
                <a:ea typeface="+mn-lt"/>
                <a:cs typeface="Times New Roman"/>
              </a:rPr>
              <a:t>. Visual-Inertial Dataset. </a:t>
            </a:r>
            <a:r>
              <a:rPr lang="en-US" sz="1600">
                <a:solidFill>
                  <a:srgbClr val="1A1A1A"/>
                </a:solidFill>
                <a:latin typeface="Times New Roman"/>
                <a:ea typeface="+mn-lt"/>
                <a:cs typeface="Times New Roman"/>
                <a:hlinkClick r:id="rId9"/>
              </a:rPr>
              <a:t>https://cvg.cit.tum.de/data/datasets/visual-inertial-dataset</a:t>
            </a:r>
            <a:r>
              <a:rPr lang="en-US" sz="1600">
                <a:solidFill>
                  <a:srgbClr val="1A1A1A"/>
                </a:solidFill>
                <a:latin typeface="Times New Roman"/>
                <a:ea typeface="+mn-lt"/>
                <a:cs typeface="Times New Roman"/>
              </a:rPr>
              <a:t> 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pPr marL="457200" indent="-457200">
              <a:spcAft>
                <a:spcPts val="800"/>
              </a:spcAft>
            </a:pPr>
            <a:endParaRPr lang="en-US" sz="1600" b="0" i="0">
              <a:solidFill>
                <a:srgbClr val="1A1A1A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8E8DEB8-0F67-BBFD-6BAE-8CC5632F621E}"/>
              </a:ext>
            </a:extLst>
          </p:cNvPr>
          <p:cNvSpPr txBox="1"/>
          <p:nvPr/>
        </p:nvSpPr>
        <p:spPr>
          <a:xfrm>
            <a:off x="11466763" y="25548205"/>
            <a:ext cx="4228011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300" i="1">
                <a:solidFill>
                  <a:srgbClr val="555B66"/>
                </a:solidFill>
                <a:ea typeface="Calibri"/>
                <a:cs typeface="Calibri"/>
              </a:rPr>
              <a:t>YOLO26 Model recognizes dynamic object suitcase (0.78 Confidence) to remove from sparse mapping in rgbd3</a:t>
            </a:r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81500683-C7C4-3DDC-6FB8-8D896ACCFF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535935"/>
              </p:ext>
            </p:extLst>
          </p:nvPr>
        </p:nvGraphicFramePr>
        <p:xfrm>
          <a:off x="11576648" y="26690130"/>
          <a:ext cx="9326749" cy="170127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96989">
                  <a:extLst>
                    <a:ext uri="{9D8B030D-6E8A-4147-A177-3AD203B41FA5}">
                      <a16:colId xmlns:a16="http://schemas.microsoft.com/office/drawing/2014/main" val="1474435320"/>
                    </a:ext>
                  </a:extLst>
                </a:gridCol>
                <a:gridCol w="2734758">
                  <a:extLst>
                    <a:ext uri="{9D8B030D-6E8A-4147-A177-3AD203B41FA5}">
                      <a16:colId xmlns:a16="http://schemas.microsoft.com/office/drawing/2014/main" val="122398163"/>
                    </a:ext>
                  </a:extLst>
                </a:gridCol>
                <a:gridCol w="2895002">
                  <a:extLst>
                    <a:ext uri="{9D8B030D-6E8A-4147-A177-3AD203B41FA5}">
                      <a16:colId xmlns:a16="http://schemas.microsoft.com/office/drawing/2014/main" val="2919409831"/>
                    </a:ext>
                  </a:extLst>
                </a:gridCol>
              </a:tblGrid>
              <a:tr h="709010">
                <a:tc>
                  <a:txBody>
                    <a:bodyPr/>
                    <a:lstStyle/>
                    <a:p>
                      <a:pPr marL="457200" lvl="1" algn="l" rtl="0" eaLnBrk="1" latinLnBrk="0" hangingPunct="1">
                        <a:buNone/>
                      </a:pPr>
                      <a:r>
                        <a:rPr lang="en-US" sz="2400" b="1" kern="120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Mode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2400" b="1" kern="120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Dataset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2400" b="1" kern="120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Trajectory Error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806449"/>
                  </a:ext>
                </a:extLst>
              </a:tr>
              <a:tr h="496132">
                <a:tc>
                  <a:txBody>
                    <a:bodyPr/>
                    <a:lstStyle/>
                    <a:p>
                      <a:pPr marL="457200" lvl="1" algn="l" rtl="0" eaLnBrk="1" latinLnBrk="0" hangingPunct="1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RGB-D (primary)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TUM freiburg1_xyz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1.0 cm RMSE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788528"/>
                  </a:ext>
                </a:extLst>
              </a:tr>
              <a:tr h="496132">
                <a:tc>
                  <a:txBody>
                    <a:bodyPr/>
                    <a:lstStyle/>
                    <a:p>
                      <a:pPr marL="457200" lvl="1" algn="l" rtl="0" eaLnBrk="1" latinLnBrk="0" hangingPunct="1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IMU Stereo (early runs)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TUM-VI Room 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2400" b="0" kern="1200">
                          <a:solidFill>
                            <a:srgbClr val="1A1A1A"/>
                          </a:solidFill>
                          <a:effectLst/>
                          <a:latin typeface="Calibri"/>
                        </a:rPr>
                        <a:t>1.2 cm RMSE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57217"/>
                  </a:ext>
                </a:extLst>
              </a:tr>
            </a:tbl>
          </a:graphicData>
        </a:graphic>
      </p:graphicFrame>
      <p:sp>
        <p:nvSpPr>
          <p:cNvPr id="37" name="Rounded Rectangle 44">
            <a:extLst>
              <a:ext uri="{FF2B5EF4-FFF2-40B4-BE49-F238E27FC236}">
                <a16:creationId xmlns:a16="http://schemas.microsoft.com/office/drawing/2014/main" id="{3FBC4670-8AE7-C4ED-A2DC-5E56B8AFEC3C}"/>
              </a:ext>
            </a:extLst>
          </p:cNvPr>
          <p:cNvSpPr/>
          <p:nvPr/>
        </p:nvSpPr>
        <p:spPr>
          <a:xfrm>
            <a:off x="477040" y="29323232"/>
            <a:ext cx="10167092" cy="326707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F2F5F9"/>
              </a:gs>
            </a:gsLst>
            <a:lin ang="5400000" scaled="1"/>
            <a:tileRect/>
          </a:gradFill>
          <a:ln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516ED80-67E2-3A34-3ADA-290F2A5DA791}"/>
              </a:ext>
            </a:extLst>
          </p:cNvPr>
          <p:cNvSpPr txBox="1"/>
          <p:nvPr/>
        </p:nvSpPr>
        <p:spPr>
          <a:xfrm>
            <a:off x="1144807" y="29535797"/>
            <a:ext cx="9144000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000" b="1">
                <a:solidFill>
                  <a:srgbClr val="182B49"/>
                </a:solidFill>
                <a:ea typeface="Calibri"/>
                <a:cs typeface="Calibri"/>
              </a:rPr>
              <a:t>Acknowledgements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D4CD9D-8AA5-A4A6-543A-5A54FEEC4B12}"/>
              </a:ext>
            </a:extLst>
          </p:cNvPr>
          <p:cNvSpPr txBox="1"/>
          <p:nvPr/>
        </p:nvSpPr>
        <p:spPr>
          <a:xfrm>
            <a:off x="11876067" y="26102483"/>
            <a:ext cx="8712681" cy="6020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200" b="1" err="1">
                <a:solidFill>
                  <a:srgbClr val="182B49"/>
                </a:solidFill>
                <a:ea typeface="Calibri"/>
                <a:cs typeface="Calibri"/>
              </a:rPr>
              <a:t>Benchmar</a:t>
            </a:r>
            <a:r>
              <a:rPr lang="en-US" sz="3200" b="1">
                <a:solidFill>
                  <a:srgbClr val="182B49"/>
                </a:solidFill>
                <a:ea typeface="Calibri"/>
                <a:cs typeface="Calibri"/>
              </a:rPr>
              <a:t>k Error Analysis</a:t>
            </a:r>
            <a:endParaRPr lang="en-US" sz="3200">
              <a:ea typeface="Calibri"/>
              <a:cs typeface="Calibri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9E61D69-6D57-401F-F57C-6E520567EC17}"/>
              </a:ext>
            </a:extLst>
          </p:cNvPr>
          <p:cNvSpPr txBox="1"/>
          <p:nvPr/>
        </p:nvSpPr>
        <p:spPr>
          <a:xfrm>
            <a:off x="11356670" y="10288760"/>
            <a:ext cx="9172426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3200" b="1">
                <a:solidFill>
                  <a:srgbClr val="182B49"/>
                </a:solidFill>
                <a:ea typeface="Calibri"/>
                <a:cs typeface="Calibri"/>
              </a:rPr>
              <a:t>Item Recognition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98ADF1-01E1-8E0E-59B5-ABEF2D7C8A21}"/>
              </a:ext>
            </a:extLst>
          </p:cNvPr>
          <p:cNvSpPr txBox="1"/>
          <p:nvPr/>
        </p:nvSpPr>
        <p:spPr>
          <a:xfrm>
            <a:off x="11362374" y="10767883"/>
            <a:ext cx="9535959" cy="21185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800"/>
              </a:spcAft>
            </a:pPr>
            <a:r>
              <a:rPr lang="en-US" sz="2500">
                <a:latin typeface="Arial"/>
                <a:cs typeface="Arial"/>
              </a:rPr>
              <a:t>Recognizing household objects and removing any dynamic objects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lang="en-US" sz="2500">
                <a:latin typeface="Arial"/>
                <a:ea typeface="Calibri"/>
                <a:cs typeface="Arial"/>
              </a:rPr>
              <a:t>Trained an AI to recognize household and dynamic </a:t>
            </a:r>
            <a:r>
              <a:rPr lang="en-US" sz="2500" err="1">
                <a:latin typeface="Arial"/>
                <a:ea typeface="Calibri"/>
                <a:cs typeface="Arial"/>
              </a:rPr>
              <a:t>obje</a:t>
            </a:r>
            <a:r>
              <a:rPr lang="en-US" sz="2500">
                <a:latin typeface="Arial"/>
                <a:ea typeface="Calibri"/>
                <a:cs typeface="Arial"/>
              </a:rPr>
              <a:t>cts and running within the OAKD itself using public datasets. Later integrating with the SLAM pipeline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04B6B3-2FDC-EDEB-D093-0BD3F0614C61}"/>
              </a:ext>
            </a:extLst>
          </p:cNvPr>
          <p:cNvSpPr txBox="1"/>
          <p:nvPr/>
        </p:nvSpPr>
        <p:spPr>
          <a:xfrm>
            <a:off x="894560" y="30235867"/>
            <a:ext cx="9446746" cy="21698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800"/>
              </a:spcAft>
            </a:pPr>
            <a:r>
              <a:rPr lang="en-US" sz="27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Special thanks to our mentor, Dr. Jack Silberman for his guidance during this program, Liz P for her helpful insight of our work, the REHS program for creating this amazing opportunity, and SDSC for providing the necessary materials. We'd also like to thank Team 5 and 6 for working in collaboration with us for this project.</a:t>
            </a:r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12AC38B-9A0C-F600-D59A-A23103151BA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42131" y="21602610"/>
            <a:ext cx="5143499" cy="386050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9DDC1DE-A212-AA0F-FA07-A0F7C637ED52}"/>
              </a:ext>
            </a:extLst>
          </p:cNvPr>
          <p:cNvSpPr txBox="1"/>
          <p:nvPr/>
        </p:nvSpPr>
        <p:spPr>
          <a:xfrm>
            <a:off x="16263050" y="25548203"/>
            <a:ext cx="4228011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300" i="1">
                <a:solidFill>
                  <a:srgbClr val="555B66"/>
                </a:solidFill>
                <a:latin typeface="Calibri"/>
              </a:rPr>
              <a:t>Colored and detailed sparse map of rgbd1 .ply file, with dynamic objects removed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1B768F-B255-26BA-6C22-0580C1318771}"/>
              </a:ext>
            </a:extLst>
          </p:cNvPr>
          <p:cNvSpPr txBox="1"/>
          <p:nvPr/>
        </p:nvSpPr>
        <p:spPr>
          <a:xfrm>
            <a:off x="11910572" y="14060007"/>
            <a:ext cx="8712681" cy="6020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200" b="1">
                <a:solidFill>
                  <a:srgbClr val="182B49"/>
                </a:solidFill>
                <a:ea typeface="Calibri"/>
                <a:cs typeface="Calibri"/>
              </a:rPr>
              <a:t>Sparse Map Reconstruction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4</cp:revision>
  <dcterms:created xsi:type="dcterms:W3CDTF">2013-01-27T09:14:16Z</dcterms:created>
  <dcterms:modified xsi:type="dcterms:W3CDTF">2026-07-26T20:49:41Z</dcterms:modified>
  <cp:category/>
</cp:coreProperties>
</file>